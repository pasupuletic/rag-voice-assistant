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8" r:id="rId4"/>
    <p:sldId id="269" r:id="rId5"/>
    <p:sldId id="273" r:id="rId6"/>
    <p:sldId id="264" r:id="rId7"/>
    <p:sldId id="274" r:id="rId8"/>
    <p:sldId id="258" r:id="rId9"/>
    <p:sldId id="260" r:id="rId10"/>
    <p:sldId id="263" r:id="rId11"/>
    <p:sldId id="276" r:id="rId12"/>
    <p:sldId id="277" r:id="rId13"/>
    <p:sldId id="270" r:id="rId14"/>
    <p:sldId id="271" r:id="rId15"/>
    <p:sldId id="262" r:id="rId16"/>
    <p:sldId id="278" r:id="rId17"/>
    <p:sldId id="279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1C97-2CC5-DA9A-96E1-57E7832C2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86C99-8095-DF80-A338-6C1923B88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2D4AF-8E78-E13F-1E36-ECCC7D4B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7F5CE-D6EE-90E2-08C4-1F45B664E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75D21-DE48-CD48-0597-924032F6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42904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93FE-8579-3D52-91FA-C0CF9C71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9E8F5-F5EE-92C3-BDCD-110E71F46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6602B-291E-460A-D09F-E98DE714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78E07-E7DC-29C0-5A9C-06923C86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C9DB4-6AA3-3B6B-D201-39A623E3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61399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E61A-6289-9924-EEEF-67855D6D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EBC59-DBEA-A5EC-DB92-695C82AA9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00FB4-F9C9-B28F-AECD-2203D7AE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B0883-7BD0-E1F5-B678-A4F05E3E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A8AF7-D161-6279-416D-4309C323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36826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244C-C206-9150-1FF1-E467C51E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73D9-3648-5477-0C76-938E391AC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F6954-F67F-EF55-13B8-CAC3A0EED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2C982-1FC8-B233-6F4E-B2AD99FF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2B2B9-1EEB-A5D3-1469-240DC1F0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C7154-656E-AF9F-E231-D705C00F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82127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8A1B-8B25-1B7B-AE8B-CCAE7925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A42D2-4490-44CD-9716-3DBD746FD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77BD4-186A-5B5C-6241-C77516211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8472B-0046-9778-36AB-95F19BF36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542FF-0796-AA87-B10D-31FD94651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DA0BE-A6B7-9907-0093-C45754642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04A91-0C35-7A21-E0C5-150DF2DA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73B4D5-5F5C-035A-D366-86572765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4694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4277-B312-8B41-0BA4-B49D0CAB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7B654-ECDF-C0E6-9A4D-6F74E120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F1E53-DD5D-D347-334A-582DE5766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3D69C-CB16-D2E3-C01B-50068CD3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09251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DBF25-5F30-3A2D-C78A-527EBD30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BEC95-38D0-986B-5C84-C39B7EA1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2A177-C099-622A-195C-CDFA0344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8960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0A0-941A-B1B3-EB4C-88D550FC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94D1-8CD7-E3BA-23F3-AD4458245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D8F22-AA1B-80FD-D9FD-E62EEC6F5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3FA09-5154-67D3-943A-1BA12408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B15F3-F331-CA81-6A6A-49DBA121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B6CF0-5D76-137F-862D-45C77B95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25619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95F54-BD7C-69D7-1AE2-DDFFEC2A9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0FD66-6D10-77BB-DB4C-4CF113CC6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25B62-AD63-A926-2734-71FF6C5C6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8EB9E-0E7E-DE58-AE45-43483A6E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633DA-03AB-13BE-671D-DDED870D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580AA-FBB4-035D-0D77-CBD06A20C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77418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8A87-8495-3526-48FB-50A2DC29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236F2-8386-42F2-2258-AD4B91FFD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7AF03-31EA-7A35-04BC-AD3E45B93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0D3A0-A058-A16C-89F4-E346A15C7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49230-5F4A-E753-5B41-1F6F2840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5367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4F2160-223C-C244-E556-8885EC90E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9242A-370E-D22B-FD10-4745BF30A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2F340-0D0F-5978-A2E8-9D54856E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90176-35DC-75FC-04BC-7B2F27B6B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7E82-1DCF-6FFB-F8A2-54374B082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25662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C43F2-7CE6-68F8-8F30-CFFB772F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3AD65-3E68-8091-EE9E-0FCF3AB58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F932F-E813-4E78-020A-5B3BF7F32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0F496-0236-4B66-A21C-5953CB1DF49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40059-B546-4309-A4F5-0FD53F727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935AD-5100-C6D3-7860-A424CB46CC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7DE87-0D91-468D-870C-E2B66CB17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4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F822-B76C-5CF7-AD65-96803D281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317" y="1879137"/>
            <a:ext cx="10227366" cy="2649073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2"/>
                </a:solidFill>
                <a:latin typeface="Berlin Sans FB Demi" panose="020E0802020502020306" pitchFamily="34" charset="0"/>
              </a:rPr>
              <a:t>Integrating Prompt Templates and RAG Models for </a:t>
            </a:r>
            <a:br>
              <a:rPr lang="en-US" sz="4400" b="1" dirty="0">
                <a:solidFill>
                  <a:schemeClr val="bg2"/>
                </a:solidFill>
                <a:latin typeface="Berlin Sans FB Demi" panose="020E0802020502020306" pitchFamily="34" charset="0"/>
              </a:rPr>
            </a:br>
            <a:r>
              <a:rPr lang="en-US" sz="4400" b="1" dirty="0">
                <a:solidFill>
                  <a:schemeClr val="bg2"/>
                </a:solidFill>
                <a:latin typeface="Berlin Sans FB Demi" panose="020E0802020502020306" pitchFamily="34" charset="0"/>
              </a:rPr>
              <a:t>Human-Centered Conversational Assistants</a:t>
            </a:r>
            <a:endParaRPr lang="en-IN" sz="4400" b="1" dirty="0">
              <a:solidFill>
                <a:schemeClr val="bg2"/>
              </a:solidFill>
              <a:latin typeface="Berlin Sans FB Demi" panose="020E0802020502020306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Graphic 6" descr="Two speech bubbles">
            <a:extLst>
              <a:ext uri="{FF2B5EF4-FFF2-40B4-BE49-F238E27FC236}">
                <a16:creationId xmlns:a16="http://schemas.microsoft.com/office/drawing/2014/main" id="{A27672F0-70C3-D7B1-2A44-773CC1271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07390" y="-312713"/>
            <a:ext cx="3067651" cy="306765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9709B6B-88E5-7352-7895-4D7406AF6EEB}"/>
              </a:ext>
            </a:extLst>
          </p:cNvPr>
          <p:cNvGrpSpPr/>
          <p:nvPr/>
        </p:nvGrpSpPr>
        <p:grpSpPr>
          <a:xfrm>
            <a:off x="1208972" y="2754938"/>
            <a:ext cx="8118949" cy="4337137"/>
            <a:chOff x="945021" y="2689740"/>
            <a:chExt cx="8118949" cy="4337137"/>
          </a:xfrm>
        </p:grpSpPr>
        <p:pic>
          <p:nvPicPr>
            <p:cNvPr id="5" name="Graphic 4" descr="A brushstroke">
              <a:extLst>
                <a:ext uri="{FF2B5EF4-FFF2-40B4-BE49-F238E27FC236}">
                  <a16:creationId xmlns:a16="http://schemas.microsoft.com/office/drawing/2014/main" id="{0E83F444-5FDF-05AD-EA6D-04BE051ED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5021" y="2689740"/>
              <a:ext cx="8118949" cy="433713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8ABA71-A87A-C542-4661-FCABA8AF5FE5}"/>
                </a:ext>
              </a:extLst>
            </p:cNvPr>
            <p:cNvSpPr txBox="1"/>
            <p:nvPr/>
          </p:nvSpPr>
          <p:spPr>
            <a:xfrm>
              <a:off x="2282554" y="4681535"/>
              <a:ext cx="51481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Simplifying User Life with Smart Assistance 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5249250-7B3C-DBAF-1C81-2A2C69660A68}"/>
              </a:ext>
            </a:extLst>
          </p:cNvPr>
          <p:cNvSpPr txBox="1"/>
          <p:nvPr/>
        </p:nvSpPr>
        <p:spPr>
          <a:xfrm>
            <a:off x="8988555" y="5561815"/>
            <a:ext cx="2974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Guided by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Dr.M.Rajasekaran</a:t>
            </a:r>
            <a:endParaRPr lang="en-IN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05384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F2E4D-AA0C-975C-F88B-84345F69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8C82CB11-00F0-1FE5-A934-F1B905968C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1F12CD7-7472-7160-62E3-FF596973D4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9997142"/>
              </p:ext>
            </p:extLst>
          </p:nvPr>
        </p:nvGraphicFramePr>
        <p:xfrm>
          <a:off x="2926080" y="2021840"/>
          <a:ext cx="8620760" cy="37778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algn="ctr" rotWithShape="0">
                    <a:srgbClr val="000000"/>
                  </a:outerShdw>
                </a:effectLst>
                <a:tableStyleId>{5C22544A-7EE6-4342-B048-85BDC9FD1C3A}</a:tableStyleId>
              </a:tblPr>
              <a:tblGrid>
                <a:gridCol w="5222431">
                  <a:extLst>
                    <a:ext uri="{9D8B030D-6E8A-4147-A177-3AD203B41FA5}">
                      <a16:colId xmlns:a16="http://schemas.microsoft.com/office/drawing/2014/main" val="1456323220"/>
                    </a:ext>
                  </a:extLst>
                </a:gridCol>
                <a:gridCol w="3398329">
                  <a:extLst>
                    <a:ext uri="{9D8B030D-6E8A-4147-A177-3AD203B41FA5}">
                      <a16:colId xmlns:a16="http://schemas.microsoft.com/office/drawing/2014/main" val="2406834016"/>
                    </a:ext>
                  </a:extLst>
                </a:gridCol>
              </a:tblGrid>
              <a:tr h="75556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2400" dirty="0">
                        <a:solidFill>
                          <a:schemeClr val="bg1"/>
                        </a:solidFill>
                        <a:effectLst>
                          <a:outerShdw blurRad="50800" sx="1000" sy="1000" algn="ctr" rotWithShape="0">
                            <a:srgbClr val="000000">
                              <a:alpha val="45000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2">
                        <a:alpha val="3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 No</a:t>
                      </a:r>
                      <a:endParaRPr lang="en-IN" sz="2400" dirty="0">
                        <a:solidFill>
                          <a:schemeClr val="bg1"/>
                        </a:solidFill>
                        <a:effectLst>
                          <a:outerShdw blurRad="50800" sx="1000" sy="1000" algn="ctr" rotWithShape="0">
                            <a:srgbClr val="000000">
                              <a:alpha val="45000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2">
                        <a:alpha val="3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860881"/>
                  </a:ext>
                </a:extLst>
              </a:tr>
              <a:tr h="7555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Padyala Himanshu</a:t>
                      </a:r>
                      <a:endParaRPr lang="en-IN" sz="2400" i="0" dirty="0">
                        <a:solidFill>
                          <a:schemeClr val="bg1"/>
                        </a:solidFill>
                        <a:effectLst>
                          <a:outerShdw blurRad="50800" sx="1000" sy="1000" algn="ctr" rotWithShape="0">
                            <a:srgbClr val="000000">
                              <a:alpha val="45000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tint val="40000"/>
                        <a:alpha val="3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99220040153</a:t>
                      </a:r>
                      <a:endParaRPr lang="en-IN" sz="2400" i="0" dirty="0">
                        <a:solidFill>
                          <a:schemeClr val="bg1"/>
                        </a:solidFill>
                        <a:effectLst>
                          <a:outerShdw blurRad="50800" sx="1000" sy="1000" algn="ctr" rotWithShape="0">
                            <a:srgbClr val="000000">
                              <a:alpha val="45000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tint val="40000"/>
                        <a:alpha val="3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987850"/>
                  </a:ext>
                </a:extLst>
              </a:tr>
              <a:tr h="755564">
                <a:tc>
                  <a:txBody>
                    <a:bodyPr/>
                    <a:lstStyle/>
                    <a:p>
                      <a:pPr algn="ctr"/>
                      <a:r>
                        <a:rPr lang="en-US" sz="2400" i="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Pasupuleti Charan Kumar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3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99220040158</a:t>
                      </a:r>
                      <a:endParaRPr lang="en-IN" sz="2400" i="0" dirty="0">
                        <a:solidFill>
                          <a:schemeClr val="bg1"/>
                        </a:solidFill>
                        <a:effectLst>
                          <a:outerShdw blurRad="50800" sx="1000" sy="1000" algn="ctr" rotWithShape="0">
                            <a:srgbClr val="000000">
                              <a:alpha val="45000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tint val="20000"/>
                        <a:alpha val="3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11269"/>
                  </a:ext>
                </a:extLst>
              </a:tr>
              <a:tr h="755564">
                <a:tc>
                  <a:txBody>
                    <a:bodyPr/>
                    <a:lstStyle/>
                    <a:p>
                      <a:pPr algn="ctr"/>
                      <a:r>
                        <a:rPr lang="en-US" sz="2400" i="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Pasupuleti Dharani Kumar</a:t>
                      </a:r>
                      <a:endParaRPr lang="en-IN" sz="2400" i="0" dirty="0">
                        <a:solidFill>
                          <a:schemeClr val="bg1"/>
                        </a:solidFill>
                        <a:effectLst>
                          <a:outerShdw blurRad="50800" sx="1000" sy="1000" algn="ctr" rotWithShape="0">
                            <a:srgbClr val="000000">
                              <a:alpha val="45000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tint val="40000"/>
                        <a:alpha val="3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99220040159</a:t>
                      </a:r>
                      <a:endParaRPr lang="en-IN" sz="2400" i="0" dirty="0">
                        <a:solidFill>
                          <a:schemeClr val="bg1"/>
                        </a:solidFill>
                        <a:effectLst>
                          <a:outerShdw blurRad="50800" sx="1000" sy="1000" algn="ctr" rotWithShape="0">
                            <a:srgbClr val="000000">
                              <a:alpha val="45000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tint val="40000"/>
                        <a:alpha val="3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654818"/>
                  </a:ext>
                </a:extLst>
              </a:tr>
              <a:tr h="755564">
                <a:tc>
                  <a:txBody>
                    <a:bodyPr/>
                    <a:lstStyle/>
                    <a:p>
                      <a:pPr algn="ctr"/>
                      <a:r>
                        <a:rPr lang="en-US" sz="2400" i="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Penumakula Sudhakar </a:t>
                      </a:r>
                      <a:endParaRPr lang="en-IN" sz="2400" i="0" dirty="0">
                        <a:solidFill>
                          <a:schemeClr val="bg1"/>
                        </a:solidFill>
                        <a:effectLst>
                          <a:outerShdw blurRad="50800" sx="1000" sy="1000" algn="ctr" rotWithShape="0">
                            <a:srgbClr val="000000">
                              <a:alpha val="45000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tint val="20000"/>
                        <a:alpha val="3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0" dirty="0">
                          <a:solidFill>
                            <a:schemeClr val="bg1"/>
                          </a:solidFill>
                          <a:effectLst>
                            <a:outerShdw blurRad="50800" sx="1000" sy="1000" algn="ctr" rotWithShape="0">
                              <a:srgbClr val="000000">
                                <a:alpha val="45000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99220040164</a:t>
                      </a:r>
                      <a:endParaRPr lang="en-IN" sz="2400" i="0" dirty="0">
                        <a:solidFill>
                          <a:schemeClr val="bg1"/>
                        </a:solidFill>
                        <a:effectLst>
                          <a:outerShdw blurRad="50800" sx="1000" sy="1000" algn="ctr" rotWithShape="0">
                            <a:srgbClr val="000000">
                              <a:alpha val="45000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tint val="20000"/>
                        <a:alpha val="3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706155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0E6A86-5457-D4B1-0848-13DAE6E6E05A}"/>
              </a:ext>
            </a:extLst>
          </p:cNvPr>
          <p:cNvSpPr/>
          <p:nvPr/>
        </p:nvSpPr>
        <p:spPr>
          <a:xfrm>
            <a:off x="1168400" y="788323"/>
            <a:ext cx="3098800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Team Members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66763071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FFD1-DD0F-81D8-4669-DEFE7E71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D084371A-83E4-B7A1-A03A-389B840287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88592-4C76-1CB4-92A0-4A7C1BFF0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1002" y="2187390"/>
            <a:ext cx="8692709" cy="37109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Users struggle with fragmented interfaces and repetitive digital tasks.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Lack of personalized automation across platforms and services.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Existing voice assistants offer limited contextual understanding.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Manual task execution reduces productivity and user satisfaction.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Need for a unified, intelligent assistant that adapts to individual workflows.</a:t>
            </a:r>
            <a:endParaRPr lang="en-IN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2C3C27-4D4F-6511-669B-E8E9A0B6861C}"/>
              </a:ext>
            </a:extLst>
          </p:cNvPr>
          <p:cNvSpPr/>
          <p:nvPr/>
        </p:nvSpPr>
        <p:spPr>
          <a:xfrm>
            <a:off x="548640" y="959649"/>
            <a:ext cx="3627120" cy="8145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Problem Statement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44098697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6D844-9344-EF85-A1BC-2B865A5F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286D78C0-63EF-EFAB-B627-D7DF839D89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820BF6-CF10-8544-A19B-91B67C22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7" y="244940"/>
            <a:ext cx="8938591" cy="893774"/>
          </a:xfrm>
          <a:effectLst>
            <a:glow rad="127000">
              <a:schemeClr val="accent1"/>
            </a:glow>
          </a:effectLst>
        </p:spPr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3F303F9-0F22-E434-7B78-91F059D104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743790"/>
              </p:ext>
            </p:extLst>
          </p:nvPr>
        </p:nvGraphicFramePr>
        <p:xfrm>
          <a:off x="367747" y="1300038"/>
          <a:ext cx="11456505" cy="5321132"/>
        </p:xfrm>
        <a:graphic>
          <a:graphicData uri="http://schemas.openxmlformats.org/drawingml/2006/table">
            <a:tbl>
              <a:tblPr firstRow="1" bandRow="1">
                <a:effectLst>
                  <a:outerShdw blurRad="520700" algn="ctr" rotWithShape="0">
                    <a:srgbClr val="000000">
                      <a:alpha val="68000"/>
                    </a:srgbClr>
                  </a:outerShdw>
                  <a:reflection stA="0" endPos="65000" dist="50800" dir="5400000" sy="-100000" algn="bl" rotWithShape="0"/>
                </a:effectLst>
                <a:tableStyleId>{5C22544A-7EE6-4342-B048-85BDC9FD1C3A}</a:tableStyleId>
              </a:tblPr>
              <a:tblGrid>
                <a:gridCol w="601884">
                  <a:extLst>
                    <a:ext uri="{9D8B030D-6E8A-4147-A177-3AD203B41FA5}">
                      <a16:colId xmlns:a16="http://schemas.microsoft.com/office/drawing/2014/main" val="2406955018"/>
                    </a:ext>
                  </a:extLst>
                </a:gridCol>
                <a:gridCol w="3135009">
                  <a:extLst>
                    <a:ext uri="{9D8B030D-6E8A-4147-A177-3AD203B41FA5}">
                      <a16:colId xmlns:a16="http://schemas.microsoft.com/office/drawing/2014/main" val="1940661898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1118152990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395363292"/>
                    </a:ext>
                  </a:extLst>
                </a:gridCol>
                <a:gridCol w="4976412">
                  <a:extLst>
                    <a:ext uri="{9D8B030D-6E8A-4147-A177-3AD203B41FA5}">
                      <a16:colId xmlns:a16="http://schemas.microsoft.com/office/drawing/2014/main" val="2700860315"/>
                    </a:ext>
                  </a:extLst>
                </a:gridCol>
              </a:tblGrid>
              <a:tr h="4024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Sno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Title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Author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Methodology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271344"/>
                  </a:ext>
                </a:extLst>
              </a:tr>
              <a:tr h="88163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CHATBOT: Design, Architecture, and Applications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 err="1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Xufei</a:t>
                      </a:r>
                      <a:r>
                        <a:rPr lang="en-IN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 Huang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2021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Combines rule based and machine learning </a:t>
                      </a:r>
                    </a:p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Approaches discusses slot filling and statistical NLU </a:t>
                      </a:r>
                    </a:p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techniques for chatbot design and deployment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175468"/>
                  </a:ext>
                </a:extLst>
              </a:tr>
              <a:tr h="13524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Chatbot using Natural Language Processing (NLP) Techniques</a:t>
                      </a:r>
                      <a:endParaRPr lang="en-IN" b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Sunny Kaushik, Rahul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2023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Reviews NLP algorithms for context-aware </a:t>
                      </a:r>
                    </a:p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chatbot development; emphasizes speech </a:t>
                      </a:r>
                    </a:p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management, intent recognition, and user </a:t>
                      </a:r>
                    </a:p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satisfaction metrics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41977"/>
                  </a:ext>
                </a:extLst>
              </a:tr>
              <a:tr h="14106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Conversational AI Unleashed: A Comprehensive Review of NLP-Powered Chatbot Platforms</a:t>
                      </a:r>
                      <a:endParaRPr lang="en-IN" b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Shubham Chaurasia, Shubha Jain, Hari Om Vishwakarma, Nishant Singh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2023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Surveys rule-based, generative, and </a:t>
                      </a:r>
                    </a:p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retrieval-based models; explores Pre-trained language models and ethical concerns in </a:t>
                      </a:r>
                    </a:p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chatbot design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044845"/>
                  </a:ext>
                </a:extLst>
              </a:tr>
              <a:tr h="11461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Designing Personal Assistants with Deep NLU and Contextual Awareness</a:t>
                      </a:r>
                      <a:endParaRPr lang="en-IN" b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Priya Sharma, Ankit Verma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2024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Implements transformer based NLU models (e.g., BERT) for personalized </a:t>
                      </a:r>
                    </a:p>
                    <a:p>
                      <a:pPr algn="ctr"/>
                      <a:r>
                        <a:rPr lang="en-IN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task execution; integrates dialogue state tracking </a:t>
                      </a:r>
                    </a:p>
                    <a:p>
                      <a:pPr algn="ctr"/>
                      <a:r>
                        <a:rPr lang="en-IN" b="0" i="0" dirty="0">
                          <a:solidFill>
                            <a:srgbClr val="E5EBFA"/>
                          </a:solidFill>
                          <a:effectLst/>
                          <a:latin typeface="Ginto"/>
                        </a:rPr>
                        <a:t>and contextual embeddings.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57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61668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71DA-50E9-DCCA-224C-4C941BD89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502DF572-0DBA-7203-2D67-BD6F5B64BB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7642-5EB1-C976-4479-E11B6910C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016" y="2095950"/>
            <a:ext cx="8673856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Google Assistant → strong voice, weak personalization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Alexa → IoT-focused, limited reasoning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Siri → restricted ecosystem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Copilot → productivity-focused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IN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3600" dirty="0">
              <a:solidFill>
                <a:schemeClr val="accent1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cs typeface="Times New Roman" panose="02020603050405020304" pitchFamily="18" charset="0"/>
              </a:rPr>
              <a:t>No contextual memory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cs typeface="Times New Roman" panose="02020603050405020304" pitchFamily="18" charset="0"/>
              </a:rPr>
              <a:t>No unified automation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B3C08-FC4E-C6F3-7FF2-9B7CC8A92F89}"/>
              </a:ext>
            </a:extLst>
          </p:cNvPr>
          <p:cNvSpPr/>
          <p:nvPr/>
        </p:nvSpPr>
        <p:spPr>
          <a:xfrm>
            <a:off x="782320" y="944880"/>
            <a:ext cx="4632960" cy="727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Overview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DD9C57-2C76-B73B-4C01-0D5D72193907}"/>
              </a:ext>
            </a:extLst>
          </p:cNvPr>
          <p:cNvSpPr/>
          <p:nvPr/>
        </p:nvSpPr>
        <p:spPr>
          <a:xfrm>
            <a:off x="2824480" y="4460240"/>
            <a:ext cx="2590800" cy="538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Limitations</a:t>
            </a:r>
            <a:r>
              <a:rPr lang="en-US" sz="2400" dirty="0"/>
              <a:t>: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1800529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10E4-CAA1-FDF9-834D-43C4C47B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807D0DD7-DCB3-41C1-BCC4-DDB88804CB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565E7-5742-53D5-53EC-5E61DA133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016" y="2095950"/>
            <a:ext cx="8673856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Develop a personal AI chatbot with advanced NLU for task simplification.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Enable voice interaction and contextual conversation handling.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Automate routine tasks across apps, devices, and services.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Prompt templates implementation enhances search outputs.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Personalize responses based on user preferences and behaviour.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Integrate speech synthesis for natural, human-like communication.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E44721-540C-3CA9-DACB-A777B0FAC538}"/>
              </a:ext>
            </a:extLst>
          </p:cNvPr>
          <p:cNvSpPr/>
          <p:nvPr/>
        </p:nvSpPr>
        <p:spPr>
          <a:xfrm>
            <a:off x="1320800" y="883920"/>
            <a:ext cx="2235200" cy="1046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Objective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5219337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A4BB-EC27-B619-A816-EC2B9914A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02E7E7A1-6290-6E22-2C65-3AD7CCF301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51C32-D4BB-617F-B683-564F75689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2016" y="2073540"/>
            <a:ext cx="7205064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Hybrid AI chatbot with: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cs typeface="Times New Roman" panose="02020603050405020304" pitchFamily="18" charset="0"/>
              </a:rPr>
              <a:t>RAG (Retrieval-Augmented Generation)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cs typeface="Times New Roman" panose="02020603050405020304" pitchFamily="18" charset="0"/>
              </a:rPr>
              <a:t>Voice-based interaction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cs typeface="Times New Roman" panose="02020603050405020304" pitchFamily="18" charset="0"/>
              </a:rPr>
              <a:t>Prompt templates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cs typeface="Times New Roman" panose="02020603050405020304" pitchFamily="18" charset="0"/>
              </a:rPr>
              <a:t>Task automation</a:t>
            </a:r>
            <a:endParaRPr lang="en-IN" sz="28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360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cs typeface="Times New Roman" panose="02020603050405020304" pitchFamily="18" charset="0"/>
              </a:rPr>
              <a:t>Context-aware responses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cs typeface="Times New Roman" panose="02020603050405020304" pitchFamily="18" charset="0"/>
              </a:rPr>
              <a:t>Cross-application automation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77B88C-5639-C13D-E2B9-B6FC83CEE4B5}"/>
              </a:ext>
            </a:extLst>
          </p:cNvPr>
          <p:cNvSpPr/>
          <p:nvPr/>
        </p:nvSpPr>
        <p:spPr>
          <a:xfrm>
            <a:off x="1646471" y="932947"/>
            <a:ext cx="3074726" cy="763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Proposed System</a:t>
            </a:r>
            <a:endParaRPr lang="en-IN" sz="24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E23433-A091-AB6D-4F1E-B7A6722F4CC3}"/>
              </a:ext>
            </a:extLst>
          </p:cNvPr>
          <p:cNvSpPr/>
          <p:nvPr/>
        </p:nvSpPr>
        <p:spPr>
          <a:xfrm>
            <a:off x="3183834" y="4547073"/>
            <a:ext cx="3074726" cy="6142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Key Features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4623407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29BAD-8869-48FD-1C73-A08885756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765" y="2103120"/>
            <a:ext cx="8694235" cy="448814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IN" sz="2400" dirty="0">
                <a:solidFill>
                  <a:schemeClr val="bg1"/>
                </a:solidFill>
                <a:cs typeface="Times New Roman" panose="02020603050405020304" pitchFamily="18" charset="0"/>
              </a:rPr>
              <a:t>Personal AI chatbots are digital assistants capable of interacting via voice or text.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US" sz="2400" dirty="0">
                <a:solidFill>
                  <a:schemeClr val="bg1"/>
                </a:solidFill>
              </a:rPr>
              <a:t>Focused on enhancing user productivity through intuitive interaction.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US" sz="2400" dirty="0">
                <a:solidFill>
                  <a:schemeClr val="bg1"/>
                </a:solidFill>
              </a:rPr>
              <a:t>Uses NLU to understand intent, context, and multi-turn dialogue.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US" sz="2400" dirty="0">
                <a:solidFill>
                  <a:schemeClr val="bg1"/>
                </a:solidFill>
              </a:rPr>
              <a:t>Designed for scalability across domains like scheduling, reminders, and info retrieval.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US" sz="2400" dirty="0">
                <a:solidFill>
                  <a:schemeClr val="bg1"/>
                </a:solidFill>
              </a:rPr>
              <a:t>Bridges the gap between conversational AI and real-world task execution.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endParaRPr lang="en-IN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A170192C-B96F-CEC4-2A6D-2429BA866B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C8790A-4114-0319-E39D-D3D6C66C0F81}"/>
              </a:ext>
            </a:extLst>
          </p:cNvPr>
          <p:cNvSpPr/>
          <p:nvPr/>
        </p:nvSpPr>
        <p:spPr>
          <a:xfrm>
            <a:off x="704794" y="1178560"/>
            <a:ext cx="2479040" cy="6960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21990603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3526-85DF-A1AA-B6CF-715303FA3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4B08BC1C-102D-0C5E-E60D-7F4E6E156E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3DEDE-F439-B8A5-BE06-C19526F5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430" y="2095950"/>
            <a:ext cx="9087442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bg1"/>
                </a:solidFill>
              </a:rPr>
              <a:t>Natural Language Understanding:</a:t>
            </a:r>
            <a:r>
              <a:rPr lang="en-IN" sz="2400" dirty="0">
                <a:solidFill>
                  <a:schemeClr val="bg1"/>
                </a:solidFill>
              </a:rPr>
              <a:t> Intent recognition and entity extraction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bg1"/>
                </a:solidFill>
              </a:rPr>
              <a:t>Prompt templates: </a:t>
            </a:r>
            <a:r>
              <a:rPr lang="en-IN" sz="2400" dirty="0">
                <a:solidFill>
                  <a:schemeClr val="bg1"/>
                </a:solidFill>
              </a:rPr>
              <a:t>Simplify searching and produce better outputs.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bg1"/>
                </a:solidFill>
              </a:rPr>
              <a:t>Multimodal Interaction: </a:t>
            </a:r>
            <a:r>
              <a:rPr lang="en-IN" sz="2400" dirty="0">
                <a:solidFill>
                  <a:schemeClr val="bg1"/>
                </a:solidFill>
              </a:rPr>
              <a:t>Supports both voice and text inputs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bg1"/>
                </a:solidFill>
              </a:rPr>
              <a:t>Task Automation: </a:t>
            </a:r>
            <a:r>
              <a:rPr lang="en-IN" sz="2400" dirty="0">
                <a:solidFill>
                  <a:schemeClr val="bg1"/>
                </a:solidFill>
              </a:rPr>
              <a:t>Scheduling reminders, sending emails, retrieving updates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bg1"/>
                </a:solidFill>
              </a:rPr>
              <a:t>User Profiling: </a:t>
            </a:r>
            <a:r>
              <a:rPr lang="en-IN" sz="2400" dirty="0">
                <a:solidFill>
                  <a:schemeClr val="bg1"/>
                </a:solidFill>
              </a:rPr>
              <a:t>Learns user habits for better recommendations</a:t>
            </a:r>
          </a:p>
          <a:p>
            <a:pPr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en-IN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97FE37-C222-3F51-5A02-CE21419BF1DA}"/>
              </a:ext>
            </a:extLst>
          </p:cNvPr>
          <p:cNvSpPr/>
          <p:nvPr/>
        </p:nvSpPr>
        <p:spPr>
          <a:xfrm>
            <a:off x="978060" y="1031956"/>
            <a:ext cx="2283300" cy="746044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Features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41400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3D2F-DA56-F86C-61BA-BB8462EAC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7E2730BB-29E2-4310-4B06-76607B766B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5F296-2734-CA32-0E60-1CAF0CE8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80" y="2095950"/>
            <a:ext cx="8280400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IN" sz="2400" dirty="0">
                <a:solidFill>
                  <a:schemeClr val="bg1"/>
                </a:solidFill>
                <a:latin typeface="Ginto"/>
              </a:rPr>
              <a:t>Conversational AI market projected to exceed $40B by 2030.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IN" sz="2400" dirty="0">
                <a:solidFill>
                  <a:schemeClr val="bg1"/>
                </a:solidFill>
                <a:latin typeface="Ginto"/>
              </a:rPr>
              <a:t>Major players: Google Assistant, Amazon Alexa, Apple Siri, Microsoft Copilot.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IN" sz="2400" dirty="0">
                <a:solidFill>
                  <a:schemeClr val="bg1"/>
                </a:solidFill>
                <a:latin typeface="Ginto"/>
              </a:rPr>
              <a:t>Growing demand for domain-specific, customizable AI agents.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IN" sz="2400" dirty="0">
                <a:solidFill>
                  <a:schemeClr val="bg1"/>
                </a:solidFill>
                <a:latin typeface="Ginto"/>
              </a:rPr>
              <a:t>Enterprises investing in AI for customer support, HR, and operations.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n-IN" sz="2400" dirty="0">
                <a:solidFill>
                  <a:schemeClr val="bg1"/>
                </a:solidFill>
                <a:latin typeface="Ginto"/>
              </a:rPr>
              <a:t>Voice-first interfaces gaining traction in smart homes and mobile apps.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endParaRPr lang="en-IN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13D653-C900-2A4B-A83D-92A09FFB06B6}"/>
              </a:ext>
            </a:extLst>
          </p:cNvPr>
          <p:cNvSpPr/>
          <p:nvPr/>
        </p:nvSpPr>
        <p:spPr>
          <a:xfrm>
            <a:off x="812800" y="955040"/>
            <a:ext cx="2743200" cy="82296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Analysis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4448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D81D7-7348-296F-F2C5-C854D857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28B43A46-CA4A-E52F-E7D6-ADA1F6DF84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BDC76D-7CCB-BE04-67F2-7F93F416FF46}"/>
              </a:ext>
            </a:extLst>
          </p:cNvPr>
          <p:cNvSpPr txBox="1"/>
          <p:nvPr/>
        </p:nvSpPr>
        <p:spPr>
          <a:xfrm>
            <a:off x="2905759" y="1483359"/>
            <a:ext cx="9452554" cy="5143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bg1"/>
                </a:solidFill>
              </a:rPr>
              <a:t> </a:t>
            </a:r>
          </a:p>
          <a:p>
            <a:r>
              <a:rPr lang="en-IN" sz="2200" b="1" dirty="0">
                <a:solidFill>
                  <a:schemeClr val="bg1"/>
                </a:solidFill>
              </a:rPr>
              <a:t>	Module 1: RAG Engine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Document ingestion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Vector embedding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Semantic retrieval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Context-based response generation </a:t>
            </a:r>
          </a:p>
          <a:p>
            <a:r>
              <a:rPr lang="en-IN" sz="2200" b="1" dirty="0">
                <a:solidFill>
                  <a:schemeClr val="bg1"/>
                </a:solidFill>
              </a:rPr>
              <a:t>	Module 2: Voice Automation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Speech-to-text conversion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Intent recognition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Task execution (apps, web, scheduling) </a:t>
            </a:r>
          </a:p>
          <a:p>
            <a:r>
              <a:rPr lang="en-IN" sz="2200" b="1" dirty="0">
                <a:solidFill>
                  <a:schemeClr val="bg1"/>
                </a:solidFill>
              </a:rPr>
              <a:t>	Module 3: Educational Module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Quiz generation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Podcast summaries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Adaptive learning</a:t>
            </a:r>
          </a:p>
          <a:p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1287B2-9FD9-4D36-C945-43E06FA61814}"/>
              </a:ext>
            </a:extLst>
          </p:cNvPr>
          <p:cNvSpPr/>
          <p:nvPr/>
        </p:nvSpPr>
        <p:spPr>
          <a:xfrm>
            <a:off x="2021159" y="668500"/>
            <a:ext cx="1769201" cy="9398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Modules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5988939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FB04B2-FE32-EC20-0FDD-44A5CCFFF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939" y="488871"/>
            <a:ext cx="5542121" cy="588025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CD5A98-361B-8EFC-BDDD-4219B7690C8D}"/>
              </a:ext>
            </a:extLst>
          </p:cNvPr>
          <p:cNvSpPr/>
          <p:nvPr/>
        </p:nvSpPr>
        <p:spPr>
          <a:xfrm>
            <a:off x="701040" y="716280"/>
            <a:ext cx="2011680" cy="579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Work Flow: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19111018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B2E0-57B9-3156-5747-FC870D7C8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ED47D-3D39-73DD-C35D-4A293CC24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231" y="1690688"/>
            <a:ext cx="9812055" cy="445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7614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57E2CB-B60D-E188-788C-50ECCBE3A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1" r="33694"/>
          <a:stretch>
            <a:fillRect/>
          </a:stretch>
        </p:blipFill>
        <p:spPr>
          <a:xfrm>
            <a:off x="647179" y="1327270"/>
            <a:ext cx="3148208" cy="4203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3FB96C-70C8-C954-8A85-FFA166641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093" y="1114817"/>
            <a:ext cx="7784898" cy="462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388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8BCF-0C15-3080-D0CB-127D2833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3DA71A65-4351-27DC-1EB6-D5348A4ADB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6243" y="3604178"/>
            <a:ext cx="3410077" cy="3428999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B9CB4A-3957-ADC0-03B6-B43B6CF6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128" y="770387"/>
            <a:ext cx="8938591" cy="1325563"/>
          </a:xfrm>
          <a:effectLst>
            <a:glow rad="127000">
              <a:schemeClr val="accent1"/>
            </a:glow>
          </a:effectLst>
        </p:spPr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Potential &amp; Business Model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E644A-3F08-E729-FA15-ADC29FE23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3834" y="2377440"/>
            <a:ext cx="8450038" cy="406984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US" sz="2400" dirty="0">
                <a:solidFill>
                  <a:schemeClr val="bg1"/>
                </a:solidFill>
                <a:latin typeface="Ginto"/>
              </a:rPr>
              <a:t>Rising adoption of AI in personal productivity and smart devices.</a:t>
            </a:r>
          </a:p>
          <a:p>
            <a:pPr>
              <a:spcBef>
                <a:spcPts val="900"/>
              </a:spcBef>
            </a:pPr>
            <a:r>
              <a:rPr lang="en-US" sz="2400" dirty="0">
                <a:solidFill>
                  <a:schemeClr val="bg1"/>
                </a:solidFill>
                <a:latin typeface="Ginto"/>
              </a:rPr>
              <a:t>Huge opportunity in underserved segments: freelancers, students, SMBs.</a:t>
            </a:r>
          </a:p>
          <a:p>
            <a:pPr>
              <a:spcBef>
                <a:spcPts val="900"/>
              </a:spcBef>
            </a:pPr>
            <a:r>
              <a:rPr lang="en-US" sz="2400" dirty="0">
                <a:solidFill>
                  <a:schemeClr val="bg1"/>
                </a:solidFill>
                <a:latin typeface="Ginto"/>
              </a:rPr>
              <a:t>Increasing demand for multilingual, culturally adaptive assistants.</a:t>
            </a:r>
          </a:p>
          <a:p>
            <a:pPr>
              <a:spcBef>
                <a:spcPts val="900"/>
              </a:spcBef>
            </a:pPr>
            <a:r>
              <a:rPr lang="en-US" sz="2400" dirty="0">
                <a:solidFill>
                  <a:schemeClr val="bg1"/>
                </a:solidFill>
                <a:latin typeface="Ginto"/>
              </a:rPr>
              <a:t>Potential for integration with wearables, IoT, and enterprise tools.</a:t>
            </a:r>
          </a:p>
          <a:p>
            <a:pPr>
              <a:spcBef>
                <a:spcPts val="900"/>
              </a:spcBef>
            </a:pPr>
            <a:r>
              <a:rPr lang="en-US" sz="2400" dirty="0">
                <a:solidFill>
                  <a:schemeClr val="bg1"/>
                </a:solidFill>
                <a:latin typeface="Ginto"/>
              </a:rPr>
              <a:t>Subscription-based models and API monetization offer scalable revenue.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IN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55711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600975-1DD6-F581-1F7F-5BD69415CBED}"/>
              </a:ext>
            </a:extLst>
          </p:cNvPr>
          <p:cNvSpPr txBox="1"/>
          <p:nvPr/>
        </p:nvSpPr>
        <p:spPr>
          <a:xfrm>
            <a:off x="3048000" y="1582341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000" b="1" dirty="0">
              <a:solidFill>
                <a:schemeClr val="bg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Developed hybrid AI assistant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Combines RAG + Voice + Automation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Improves productivity and accuracy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Practical real-world application </a:t>
            </a:r>
          </a:p>
          <a:p>
            <a:pPr>
              <a:buNone/>
            </a:pPr>
            <a:br>
              <a:rPr lang="en-IN" sz="2000" dirty="0">
                <a:solidFill>
                  <a:schemeClr val="bg1"/>
                </a:solidFill>
              </a:rPr>
            </a:br>
            <a:endParaRPr lang="en-IN" sz="2000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20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2000" b="1" dirty="0">
              <a:solidFill>
                <a:schemeClr val="bg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Offline AI models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Edge computing integration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Emotion-aware AI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IoT integration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Advanced personalization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001810-7D21-D534-3BEA-90802EC705AD}"/>
              </a:ext>
            </a:extLst>
          </p:cNvPr>
          <p:cNvSpPr/>
          <p:nvPr/>
        </p:nvSpPr>
        <p:spPr>
          <a:xfrm>
            <a:off x="1252694" y="748328"/>
            <a:ext cx="2033116" cy="834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Conclusion</a:t>
            </a:r>
            <a:endParaRPr lang="en-IN" sz="20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738AE0-6B95-872E-07D0-F800224DE1DF}"/>
              </a:ext>
            </a:extLst>
          </p:cNvPr>
          <p:cNvSpPr/>
          <p:nvPr/>
        </p:nvSpPr>
        <p:spPr>
          <a:xfrm>
            <a:off x="1038329" y="3520111"/>
            <a:ext cx="3145134" cy="6013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Future Enhancements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3793565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8DDE3-01FB-54B0-CCBF-1C166CFBC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3857" y="2091907"/>
            <a:ext cx="8968991" cy="3922032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1. L. Jiang, M. Zhang, Y. Chen, et al. “Adaptive Retrieval-Augmented Generation for Conversational Systems” arXiv:2407.21712 (July 2024).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2. K. Chen, J. Lee, P. Zhao, et </a:t>
            </a:r>
            <a:r>
              <a:rPr lang="en-IN" dirty="0" err="1">
                <a:solidFill>
                  <a:schemeClr val="bg1"/>
                </a:solidFill>
              </a:rPr>
              <a:t>al.”A</a:t>
            </a:r>
            <a:r>
              <a:rPr lang="en-IN" dirty="0">
                <a:solidFill>
                  <a:schemeClr val="bg1"/>
                </a:solidFill>
              </a:rPr>
              <a:t> Systematic Literature Review of Retrieval-Augmented Generation (RAG)” arXiv:2508.06401 (August 2025).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3. R. Yang, Z. Liu, S. Wang, et al. “A Systematic Review of Key Retrieval-Augmented Generation Techniques” arXiv:2507.18910v1 (July 2025).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4. S. K. Reddy, A. Sharma, V. Patel, et al .”A Banking Chatbot Using Retrieval Augmented Generation” IJIRT, Vol. 17, Paper 178847 (2025)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5. A. Mehta, R. Kumar, S. Nair, et </a:t>
            </a:r>
            <a:r>
              <a:rPr lang="en-IN" dirty="0" err="1">
                <a:solidFill>
                  <a:schemeClr val="bg1"/>
                </a:solidFill>
              </a:rPr>
              <a:t>al.”A</a:t>
            </a:r>
            <a:r>
              <a:rPr lang="en-IN" dirty="0">
                <a:solidFill>
                  <a:schemeClr val="bg1"/>
                </a:solidFill>
              </a:rPr>
              <a:t> Healthcare Chatbot Powered by Retrieval-Augmented Generation” IJCRT, Paper BE02109 (July 2025).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D401A8-E4AB-32F7-1584-43F3B08BEDAA}"/>
              </a:ext>
            </a:extLst>
          </p:cNvPr>
          <p:cNvSpPr/>
          <p:nvPr/>
        </p:nvSpPr>
        <p:spPr>
          <a:xfrm>
            <a:off x="698360" y="844061"/>
            <a:ext cx="2481943" cy="85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References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364087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5EFA-33F2-97FD-5CA9-2506C4B82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28594" y="2616923"/>
            <a:ext cx="10515600" cy="2200351"/>
          </a:xfrm>
        </p:spPr>
        <p:txBody>
          <a:bodyPr>
            <a:noAutofit/>
          </a:bodyPr>
          <a:lstStyle/>
          <a:p>
            <a:pPr algn="ctr"/>
            <a:r>
              <a:rPr lang="en-US" sz="8800" dirty="0">
                <a:solidFill>
                  <a:schemeClr val="bg2">
                    <a:lumMod val="90000"/>
                  </a:schemeClr>
                </a:solidFill>
                <a:latin typeface="Algerian" panose="04020705040A02060702" pitchFamily="82" charset="0"/>
              </a:rPr>
              <a:t>THANK YOU</a:t>
            </a:r>
            <a:endParaRPr lang="en-IN" sz="8800" dirty="0">
              <a:solidFill>
                <a:schemeClr val="bg2">
                  <a:lumMod val="9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Graphic 3" descr="A robot with a raised arm">
            <a:extLst>
              <a:ext uri="{FF2B5EF4-FFF2-40B4-BE49-F238E27FC236}">
                <a16:creationId xmlns:a16="http://schemas.microsoft.com/office/drawing/2014/main" id="{A4B90E15-8F58-AD61-C95F-5B7CBDABA7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-170091"/>
            <a:ext cx="6777355" cy="6814962"/>
          </a:xfrm>
          <a:prstGeom prst="rect">
            <a:avLst/>
          </a:prstGeom>
          <a:effectLst>
            <a:glow>
              <a:schemeClr val="accent1"/>
            </a:glow>
            <a:outerShdw dist="50800" dir="5400000" algn="ctr" rotWithShape="0">
              <a:srgbClr val="000000"/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02951903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854</Words>
  <Application>Microsoft Office PowerPoint</Application>
  <PresentationFormat>Widescreen</PresentationFormat>
  <Paragraphs>146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Algerian</vt:lpstr>
      <vt:lpstr>Arial</vt:lpstr>
      <vt:lpstr>Berlin Sans FB Demi</vt:lpstr>
      <vt:lpstr>Calibri</vt:lpstr>
      <vt:lpstr>Calibri Light</vt:lpstr>
      <vt:lpstr>Ginto</vt:lpstr>
      <vt:lpstr>Times New Roman</vt:lpstr>
      <vt:lpstr>Wingdings</vt:lpstr>
      <vt:lpstr>Office Theme</vt:lpstr>
      <vt:lpstr>Integrating Prompt Templates and RAG Models for  Human-Centered Conversational Assistants</vt:lpstr>
      <vt:lpstr>PowerPoint Presentation</vt:lpstr>
      <vt:lpstr>PowerPoint Presentation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Market Potential &amp; Business Model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Padyala</dc:creator>
  <cp:lastModifiedBy>99220040159@klu.ac.in</cp:lastModifiedBy>
  <cp:revision>16</cp:revision>
  <dcterms:created xsi:type="dcterms:W3CDTF">2025-08-06T17:54:47Z</dcterms:created>
  <dcterms:modified xsi:type="dcterms:W3CDTF">2026-04-07T15:54:09Z</dcterms:modified>
</cp:coreProperties>
</file>